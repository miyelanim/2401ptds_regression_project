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70" r:id="rId2"/>
    <p:sldId id="257" r:id="rId3"/>
    <p:sldId id="271" r:id="rId4"/>
    <p:sldId id="258" r:id="rId5"/>
    <p:sldId id="259" r:id="rId6"/>
    <p:sldId id="260" r:id="rId7"/>
    <p:sldId id="261" r:id="rId8"/>
    <p:sldId id="272" r:id="rId9"/>
    <p:sldId id="273" r:id="rId10"/>
    <p:sldId id="274" r:id="rId11"/>
    <p:sldId id="275" r:id="rId12"/>
    <p:sldId id="262" r:id="rId13"/>
    <p:sldId id="263" r:id="rId14"/>
    <p:sldId id="278" r:id="rId15"/>
    <p:sldId id="279" r:id="rId16"/>
    <p:sldId id="264" r:id="rId17"/>
    <p:sldId id="265" r:id="rId18"/>
    <p:sldId id="276" r:id="rId19"/>
    <p:sldId id="277" r:id="rId20"/>
    <p:sldId id="266" r:id="rId21"/>
    <p:sldId id="267" r:id="rId22"/>
    <p:sldId id="26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0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3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6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89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6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2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2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1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61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1465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58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24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3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2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72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716834"/>
            <a:ext cx="5001380" cy="1610562"/>
          </a:xfrm>
        </p:spPr>
        <p:txBody>
          <a:bodyPr/>
          <a:lstStyle/>
          <a:p>
            <a:r>
              <a:rPr lang="en-US" sz="3200" b="1" dirty="0" smtClean="0"/>
              <a:t>2401 PTDS </a:t>
            </a:r>
            <a:r>
              <a:rPr lang="en-US" sz="3200" b="1" dirty="0"/>
              <a:t>Regression Project</a:t>
            </a:r>
            <a:br>
              <a:rPr lang="en-US" sz="3200" b="1" dirty="0"/>
            </a:br>
            <a:r>
              <a:rPr sz="3200" b="1" dirty="0" smtClean="0"/>
              <a:t>Climate </a:t>
            </a:r>
            <a:r>
              <a:rPr sz="3200" b="1" dirty="0"/>
              <a:t>and Agriculture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Using FAO &amp; IPCC Data </a:t>
            </a:r>
            <a:endParaRPr lang="en-US" dirty="0" smtClean="0"/>
          </a:p>
          <a:p>
            <a:r>
              <a:rPr dirty="0" smtClean="0"/>
              <a:t>| </a:t>
            </a:r>
            <a:r>
              <a:rPr lang="en-US" b="1" dirty="0"/>
              <a:t>Done By: </a:t>
            </a:r>
            <a:r>
              <a:rPr lang="en-US" dirty="0" err="1"/>
              <a:t>Mehendran</a:t>
            </a:r>
            <a:r>
              <a:rPr lang="en-US" dirty="0"/>
              <a:t> </a:t>
            </a:r>
            <a:r>
              <a:rPr lang="en-US" dirty="0" smtClean="0"/>
              <a:t>Pillay</a:t>
            </a:r>
            <a:r>
              <a:rPr lang="en-US" dirty="0"/>
              <a:t> |</a:t>
            </a:r>
            <a:r>
              <a:rPr lang="en-US" dirty="0" smtClean="0"/>
              <a:t> </a:t>
            </a:r>
            <a:r>
              <a:rPr lang="en-US" dirty="0" err="1"/>
              <a:t>Miyelani</a:t>
            </a:r>
            <a:r>
              <a:rPr lang="en-US" dirty="0"/>
              <a:t> </a:t>
            </a:r>
            <a:r>
              <a:rPr lang="en-US" dirty="0" err="1" smtClean="0"/>
              <a:t>Mathebula</a:t>
            </a:r>
            <a:r>
              <a:rPr lang="en-US" dirty="0"/>
              <a:t> |</a:t>
            </a:r>
            <a:r>
              <a:rPr lang="en-US" dirty="0" smtClean="0"/>
              <a:t> </a:t>
            </a:r>
            <a:r>
              <a:rPr lang="en-US" dirty="0" err="1"/>
              <a:t>Munya</a:t>
            </a:r>
            <a:r>
              <a:rPr lang="en-US" dirty="0"/>
              <a:t> </a:t>
            </a:r>
            <a:r>
              <a:rPr lang="en-US" dirty="0" err="1" smtClean="0"/>
              <a:t>Dhlakanma</a:t>
            </a:r>
            <a:r>
              <a:rPr lang="en-US" dirty="0"/>
              <a:t> | </a:t>
            </a:r>
            <a:r>
              <a:rPr lang="en-US" dirty="0" err="1" smtClean="0"/>
              <a:t>Lindiwe</a:t>
            </a:r>
            <a:r>
              <a:rPr lang="en-US" dirty="0" smtClean="0"/>
              <a:t> </a:t>
            </a:r>
            <a:r>
              <a:rPr lang="en-US" dirty="0" err="1" smtClean="0"/>
              <a:t>Masuku</a:t>
            </a:r>
            <a:r>
              <a:rPr lang="en-US" dirty="0"/>
              <a:t> | </a:t>
            </a:r>
            <a:r>
              <a:rPr lang="en-US" dirty="0" err="1" smtClean="0"/>
              <a:t>Lerato</a:t>
            </a:r>
            <a:r>
              <a:rPr lang="en-US" dirty="0" smtClean="0"/>
              <a:t> </a:t>
            </a:r>
            <a:r>
              <a:rPr lang="en-US" dirty="0" err="1"/>
              <a:t>Sokufudumala</a:t>
            </a:r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625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Motivation: Climate change impacts agriculture.</a:t>
            </a:r>
          </a:p>
          <a:p>
            <a:r>
              <a:t>Objective: Predict Average Temperature using emissions &amp; agri-food features.</a:t>
            </a:r>
          </a:p>
          <a:p>
            <a:r>
              <a:t>Outcome: Support policymakers &amp; agricultural businesses.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Visualized distributions, trends, and correlations.</a:t>
            </a:r>
          </a:p>
          <a:p>
            <a:r>
              <a:rPr dirty="0"/>
              <a:t>Histograms and scatter plots reveal temperature patterns over time.</a:t>
            </a:r>
          </a:p>
          <a:p>
            <a:r>
              <a:rPr dirty="0"/>
              <a:t>Correlation </a:t>
            </a:r>
            <a:r>
              <a:rPr dirty="0" err="1"/>
              <a:t>heatmap</a:t>
            </a:r>
            <a:r>
              <a:rPr dirty="0"/>
              <a:t> highlights key predictors.</a:t>
            </a:r>
          </a:p>
        </p:txBody>
      </p:sp>
    </p:spTree>
    <p:extLst>
      <p:ext uri="{BB962C8B-B14F-4D97-AF65-F5344CB8AC3E}">
        <p14:creationId xmlns:p14="http://schemas.microsoft.com/office/powerpoint/2010/main" val="332408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~7 000 records × 31 features.</a:t>
            </a:r>
          </a:p>
          <a:p>
            <a:r>
              <a:t>Features: Emissions (CO₂, Fires, Residues), energy use, population.</a:t>
            </a:r>
          </a:p>
          <a:p>
            <a:r>
              <a:t>Target: Average_Temperature_C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Exploratory Data Analysis - Temperature Distribution</a:t>
            </a:r>
          </a:p>
        </p:txBody>
      </p:sp>
      <p:pic>
        <p:nvPicPr>
          <p:cNvPr id="3" name="Picture 2" descr="hi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Exploratory Data Analysis - Correlation Heatmap</a:t>
            </a:r>
          </a:p>
        </p:txBody>
      </p:sp>
      <p:pic>
        <p:nvPicPr>
          <p:cNvPr id="3" name="Picture 2" descr="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Temperature Trend Example - Afghanistan</a:t>
            </a:r>
          </a:p>
        </p:txBody>
      </p:sp>
      <p:pic>
        <p:nvPicPr>
          <p:cNvPr id="3" name="Picture 2" descr="trend_afghan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Performance Commentary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four models show very high R² values (≈0.997), meaning they all explain over 99% of the variance in the data. This suggests that the dataset is highly predictable, and each model fits it extremely well.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38675" y="2487167"/>
            <a:ext cx="3336925" cy="311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1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Performance Commentary</a:t>
            </a:r>
            <a:br>
              <a:rPr lang="en-US" dirty="0" smtClean="0"/>
            </a:br>
            <a:r>
              <a:rPr lang="en-US" dirty="0" smtClean="0"/>
              <a:t>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b="1" dirty="0"/>
              <a:t>Random Forest</a:t>
            </a:r>
            <a:r>
              <a:rPr lang="en-US" sz="1800" dirty="0"/>
              <a:t> performed the best overall, with the </a:t>
            </a:r>
            <a:r>
              <a:rPr lang="en-US" sz="1800" b="1" dirty="0"/>
              <a:t>highest R² (0.9977)</a:t>
            </a:r>
            <a:r>
              <a:rPr lang="en-US" sz="1800" dirty="0"/>
              <a:t> and the </a:t>
            </a:r>
            <a:r>
              <a:rPr lang="en-US" sz="1800" b="1" dirty="0"/>
              <a:t>lowest RMSE (≈7819)</a:t>
            </a:r>
            <a:r>
              <a:rPr lang="en-US" sz="1800" dirty="0"/>
              <a:t>. This indicates it captures complex patterns in the data slightly better than the linear models.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6233" y="2487168"/>
            <a:ext cx="3336925" cy="261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3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Performance Commentary</a:t>
            </a:r>
            <a:br>
              <a:rPr lang="en-US" dirty="0" smtClean="0"/>
            </a:br>
            <a:r>
              <a:rPr lang="en-US" dirty="0" smtClean="0"/>
              <a:t>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b="1" dirty="0"/>
              <a:t>Linear Regression </a:t>
            </a:r>
            <a:r>
              <a:rPr lang="en-US" sz="1800" dirty="0"/>
              <a:t>came very close, with an R² of 0.9976 and RMSE of ≈7914. The performance gap compared to Random Forest is very small, showing that the underlying relationship in the data is strongly linear.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5025" y="2487168"/>
            <a:ext cx="3336925" cy="286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8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Performance Commentary</a:t>
            </a:r>
            <a:br>
              <a:rPr lang="en-US" dirty="0" smtClean="0"/>
            </a:br>
            <a:r>
              <a:rPr lang="en-US" dirty="0" smtClean="0"/>
              <a:t>Ridge Regression &amp;Lasso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b="1" dirty="0"/>
              <a:t>Ridge Regression </a:t>
            </a:r>
            <a:r>
              <a:rPr lang="en-US" sz="1800" dirty="0"/>
              <a:t>(R² = 0.99765, RMSE ≈7903) offered a slight improvement over plain Linear Regression in terms of error, confirming that regularization helped reduce overfitting just a little.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sz="1800" b="1" dirty="0"/>
              <a:t>Lasso Regression </a:t>
            </a:r>
            <a:r>
              <a:rPr lang="en-US" sz="1800" dirty="0"/>
              <a:t>(R² = 0.99755, RMSE ≈8071) performed slightly worse than Ridge and Linear Regression, suggesting that its feature selection effect may have removed some predictive power.</a:t>
            </a:r>
          </a:p>
        </p:txBody>
      </p:sp>
    </p:spTree>
    <p:extLst>
      <p:ext uri="{BB962C8B-B14F-4D97-AF65-F5344CB8AC3E}">
        <p14:creationId xmlns:p14="http://schemas.microsoft.com/office/powerpoint/2010/main" val="285472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Evaluated:</a:t>
            </a:r>
          </a:p>
          <a:p>
            <a:r>
              <a:t>- Linear Regression</a:t>
            </a:r>
          </a:p>
          <a:p>
            <a:r>
              <a:t>- Ridge Regression</a:t>
            </a:r>
          </a:p>
          <a:p>
            <a:r>
              <a:t>- Lasso Regression</a:t>
            </a:r>
          </a:p>
          <a:p>
            <a:r>
              <a:t>- Random Forest Regressor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Model Performance Results:</a:t>
            </a:r>
          </a:p>
          <a:p>
            <a:endParaRPr/>
          </a:p>
          <a:p>
            <a:r>
              <a:t>Random Forest: R² = 0.9977 | RMSE = 7819.13</a:t>
            </a:r>
          </a:p>
          <a:p>
            <a:r>
              <a:t>Linear Regression: R² = 0.9976 | RMSE = 7913.76</a:t>
            </a:r>
          </a:p>
          <a:p>
            <a:r>
              <a:t>Ridge Regression: R² = 0.9977 | RMSE = 7902.83</a:t>
            </a:r>
          </a:p>
          <a:p>
            <a:r>
              <a:t>Lasso Regression: R² = 0.9976 | RMSE = 8070.94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143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3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Total Emissions</a:t>
            </a:r>
          </a:p>
        </p:txBody>
      </p:sp>
      <p:pic>
        <p:nvPicPr>
          <p:cNvPr id="3" name="Picture 2" descr="hist_total_e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4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RMSE Comparison</a:t>
            </a:r>
          </a:p>
        </p:txBody>
      </p:sp>
      <p:pic>
        <p:nvPicPr>
          <p:cNvPr id="3" name="Picture 2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R² Score Comparison</a:t>
            </a:r>
          </a:p>
        </p:txBody>
      </p:sp>
      <p:pic>
        <p:nvPicPr>
          <p:cNvPr id="3" name="Picture 2" descr="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R² score: ~0.82 (example from repo results).</a:t>
            </a:r>
          </a:p>
          <a:p>
            <a:r>
              <a:t>RMSE shows reliable predictions of average temperature.</a:t>
            </a:r>
          </a:p>
          <a:p>
            <a:r>
              <a:t>Visualization: Predictions vs Actuals confirm accuracy.</a:t>
            </a:r>
          </a:p>
        </p:txBody>
      </p:sp>
    </p:spTree>
    <p:extLst>
      <p:ext uri="{BB962C8B-B14F-4D97-AF65-F5344CB8AC3E}">
        <p14:creationId xmlns:p14="http://schemas.microsoft.com/office/powerpoint/2010/main" val="200572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Climate strongly impacts agricultural yields.</a:t>
            </a:r>
          </a:p>
          <a:p>
            <a:r>
              <a:t>Regression models provide useful predictive insights.</a:t>
            </a:r>
          </a:p>
          <a:p>
            <a:r>
              <a:t>Policymakers can use findings for sustainable planning.</a:t>
            </a:r>
          </a:p>
        </p:txBody>
      </p:sp>
    </p:spTree>
    <p:extLst>
      <p:ext uri="{BB962C8B-B14F-4D97-AF65-F5344CB8AC3E}">
        <p14:creationId xmlns:p14="http://schemas.microsoft.com/office/powerpoint/2010/main" val="543407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All models achieved very high R² (&gt;0.997)</a:t>
            </a:r>
          </a:p>
          <a:p>
            <a:r>
              <a:t>- Random Forest performed best overall (lowest RMSE)</a:t>
            </a:r>
          </a:p>
          <a:p>
            <a:r>
              <a:t>- Ridge slightly improved over Linear Regression</a:t>
            </a:r>
          </a:p>
          <a:p>
            <a:r>
              <a:t>- Lasso underperformed with higher RMSE and convergence issues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Chosen Model: Random Forest Regressor</a:t>
            </a:r>
          </a:p>
          <a:p>
            <a:r>
              <a:t>Implications: Supports policy &amp; agricultural planning.</a:t>
            </a:r>
          </a:p>
          <a:p>
            <a:r>
              <a:t>Future Work:</a:t>
            </a:r>
          </a:p>
          <a:p>
            <a:r>
              <a:t>- Hyperparameter tuning</a:t>
            </a:r>
          </a:p>
          <a:p>
            <a:r>
              <a:t>- Expand dataset</a:t>
            </a:r>
          </a:p>
          <a:p>
            <a:r>
              <a:t>- Feature engineering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</a:t>
            </a:r>
          </a:p>
          <a:p>
            <a:r>
              <a:t>- GitHub for collaboration</a:t>
            </a:r>
          </a:p>
          <a:p>
            <a:r>
              <a:t>- Trello for project management</a:t>
            </a:r>
          </a:p>
          <a:p>
            <a:r>
              <a:t>- Anaconda/VSCode for development</a:t>
            </a:r>
          </a:p>
          <a:p>
            <a:r>
              <a:t>- Google Slides/Canva for presentation</a:t>
            </a:r>
          </a:p>
          <a:p>
            <a:r>
              <a:t>Proof of teamwork and version control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</TotalTime>
  <Words>553</Words>
  <Application>Microsoft Office PowerPoint</Application>
  <PresentationFormat>On-screen Show (4:3)</PresentationFormat>
  <Paragraphs>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Ion</vt:lpstr>
      <vt:lpstr>2401 PTDS Regression Project Climate and Agriculture</vt:lpstr>
      <vt:lpstr>Introduction</vt:lpstr>
      <vt:lpstr>Exploratory Data Analysis (EDA)</vt:lpstr>
      <vt:lpstr>Dataset Overview</vt:lpstr>
      <vt:lpstr>PowerPoint Presentation</vt:lpstr>
      <vt:lpstr>PowerPoint Presentation</vt:lpstr>
      <vt:lpstr>PowerPoint Presentation</vt:lpstr>
      <vt:lpstr>Model Performance Commentary </vt:lpstr>
      <vt:lpstr>Model Performance Commentary Random Forest</vt:lpstr>
      <vt:lpstr>Model Performance Commentary Linear Regression</vt:lpstr>
      <vt:lpstr>Model Performance Commentary Ridge Regression &amp;Lasso Regression</vt:lpstr>
      <vt:lpstr>Regression Models</vt:lpstr>
      <vt:lpstr>Evaluation Metrics</vt:lpstr>
      <vt:lpstr>Correlation Heatmap</vt:lpstr>
      <vt:lpstr>Distribution of Total Emissions</vt:lpstr>
      <vt:lpstr>PowerPoint Presentation</vt:lpstr>
      <vt:lpstr>PowerPoint Presentation</vt:lpstr>
      <vt:lpstr>Results</vt:lpstr>
      <vt:lpstr>Insights &amp; Implications</vt:lpstr>
      <vt:lpstr>Insights</vt:lpstr>
      <vt:lpstr>Conclusion &amp; Recommendations</vt:lpstr>
      <vt:lpstr>Teamwork &amp; 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Project: Forecasting Agricultural Temperatures</dc:title>
  <dc:subject/>
  <dc:creator>Millpark</dc:creator>
  <cp:keywords/>
  <dc:description>generated using python-pptx</dc:description>
  <cp:lastModifiedBy>Millpark</cp:lastModifiedBy>
  <cp:revision>3</cp:revision>
  <dcterms:created xsi:type="dcterms:W3CDTF">2013-01-27T09:14:16Z</dcterms:created>
  <dcterms:modified xsi:type="dcterms:W3CDTF">2025-09-08T19:40:23Z</dcterms:modified>
  <cp:category/>
</cp:coreProperties>
</file>